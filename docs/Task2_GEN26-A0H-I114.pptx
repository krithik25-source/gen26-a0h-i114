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sldIdLst>
    <p:sldId id="258" r:id="rId2"/>
    <p:sldId id="259" r:id="rId3"/>
    <p:sldId id="265" r:id="rId4"/>
    <p:sldId id="260" r:id="rId5"/>
    <p:sldId id="261" r:id="rId6"/>
    <p:sldId id="262" r:id="rId7"/>
    <p:sldId id="263" r:id="rId8"/>
    <p:sldId id="264"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8" d="100"/>
          <a:sy n="48" d="100"/>
        </p:scale>
        <p:origin x="67" y="8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58A43DFC-2CAC-492E-9467-C344DD84823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6979837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2689454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58A43DFC-2CAC-492E-9467-C344DD84823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287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58A43DFC-2CAC-492E-9467-C344DD84823C}" type="slidenum">
              <a:rPr lang="en-US" smtClean="0"/>
              <a:t>‹#›</a:t>
            </a:fld>
            <a:endParaRPr lang="en-US"/>
          </a:p>
        </p:txBody>
      </p:sp>
    </p:spTree>
    <p:extLst>
      <p:ext uri="{BB962C8B-B14F-4D97-AF65-F5344CB8AC3E}">
        <p14:creationId xmlns:p14="http://schemas.microsoft.com/office/powerpoint/2010/main" val="19763296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2288457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58A43DFC-2CAC-492E-9467-C344DD84823C}" type="slidenum">
              <a:rPr lang="en-US" smtClean="0"/>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16967698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58A43DFC-2CAC-492E-9467-C344DD84823C}" type="slidenum">
              <a:rPr lang="en-US" smtClean="0"/>
              <a:t>‹#›</a:t>
            </a:fld>
            <a:endParaRPr lang="en-US"/>
          </a:p>
        </p:txBody>
      </p:sp>
    </p:spTree>
    <p:extLst>
      <p:ext uri="{BB962C8B-B14F-4D97-AF65-F5344CB8AC3E}">
        <p14:creationId xmlns:p14="http://schemas.microsoft.com/office/powerpoint/2010/main" val="1579787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58A43DFC-2CAC-492E-9467-C344DD84823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7447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328328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950DCD51-AF3F-4288-AE17-D878C8BBFF18}" type="datetimeFigureOut">
              <a:rPr lang="en-US" smtClean="0"/>
              <a:t>09-10-2026</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58A43DFC-2CAC-492E-9467-C344DD84823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8135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58A43DFC-2CAC-492E-9467-C344DD84823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30717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58A43DFC-2CAC-492E-9467-C344DD84823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616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90040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58A43DFC-2CAC-492E-9467-C344DD84823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096672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58A43DFC-2CAC-492E-9467-C344DD84823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416864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58A43DFC-2CAC-492E-9467-C344DD84823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839090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39648676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58A43DFC-2CAC-492E-9467-C344DD84823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4411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58A43DFC-2CAC-492E-9467-C344DD84823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3155619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58A43DFC-2CAC-492E-9467-C344DD84823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13639930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58A43DFC-2CAC-492E-9467-C344DD84823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741133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30565481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1384850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39740451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950DCD51-AF3F-4288-AE17-D878C8BBFF18}" type="datetimeFigureOut">
              <a:rPr lang="en-US" smtClean="0"/>
              <a:t>09-10-2026</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58A43DFC-2CAC-492E-9467-C344DD84823C}" type="slidenum">
              <a:rPr lang="en-US" smtClean="0"/>
              <a:t>‹#›</a:t>
            </a:fld>
            <a:endParaRPr lang="en-US"/>
          </a:p>
        </p:txBody>
      </p:sp>
    </p:spTree>
    <p:extLst>
      <p:ext uri="{BB962C8B-B14F-4D97-AF65-F5344CB8AC3E}">
        <p14:creationId xmlns:p14="http://schemas.microsoft.com/office/powerpoint/2010/main" val="41528127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58A43DFC-2CAC-492E-9467-C344DD84823C}" type="slidenum">
              <a:rPr lang="en-US" smtClean="0"/>
              <a:t>‹#›</a:t>
            </a:fld>
            <a:endParaRPr lang="en-US"/>
          </a:p>
        </p:txBody>
      </p:sp>
    </p:spTree>
    <p:extLst>
      <p:ext uri="{BB962C8B-B14F-4D97-AF65-F5344CB8AC3E}">
        <p14:creationId xmlns:p14="http://schemas.microsoft.com/office/powerpoint/2010/main" val="2874199140"/>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58A43DFC-2CAC-492E-9467-C344DD84823C}" type="slidenum">
              <a:rPr lang="en-US" smtClean="0"/>
              <a:t>‹#›</a:t>
            </a:fld>
            <a:endParaRPr lang="en-US"/>
          </a:p>
        </p:txBody>
      </p:sp>
    </p:spTree>
    <p:extLst>
      <p:ext uri="{BB962C8B-B14F-4D97-AF65-F5344CB8AC3E}">
        <p14:creationId xmlns:p14="http://schemas.microsoft.com/office/powerpoint/2010/main" val="62884638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950DCD51-AF3F-4288-AE17-D878C8BBFF18}" type="datetimeFigureOut">
              <a:rPr lang="en-US" smtClean="0"/>
              <a:t>09-10-2026</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58A43DFC-2CAC-492E-9467-C344DD84823C}" type="slidenum">
              <a:rPr lang="en-US" smtClean="0"/>
              <a:t>‹#›</a:t>
            </a:fld>
            <a:endParaRPr lang="en-US"/>
          </a:p>
        </p:txBody>
      </p:sp>
    </p:spTree>
    <p:extLst>
      <p:ext uri="{BB962C8B-B14F-4D97-AF65-F5344CB8AC3E}">
        <p14:creationId xmlns:p14="http://schemas.microsoft.com/office/powerpoint/2010/main" val="118828161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 id="2147483804" r:id="rId19"/>
    <p:sldLayoutId id="2147483805" r:id="rId20"/>
    <p:sldLayoutId id="2147483806" r:id="rId21"/>
    <p:sldLayoutId id="2147483807" r:id="rId22"/>
    <p:sldLayoutId id="2147483808" r:id="rId23"/>
    <p:sldLayoutId id="2147483809" r:id="rId24"/>
    <p:sldLayoutId id="2147483810" r:id="rId25"/>
    <p:sldLayoutId id="2147483811" r:id="rId26"/>
    <p:sldLayoutId id="2147483812" r:id="rId27"/>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33B7-9B88-B3DC-6E0B-BDD66996E403}"/>
              </a:ext>
            </a:extLst>
          </p:cNvPr>
          <p:cNvSpPr>
            <a:spLocks noGrp="1"/>
          </p:cNvSpPr>
          <p:nvPr>
            <p:ph type="title"/>
          </p:nvPr>
        </p:nvSpPr>
        <p:spPr>
          <a:xfrm>
            <a:off x="548289" y="391134"/>
            <a:ext cx="9942409" cy="876193"/>
          </a:xfrm>
        </p:spPr>
        <p:txBody>
          <a:bodyPr/>
          <a:lstStyle/>
          <a:p>
            <a:pPr algn="ctr"/>
            <a:r>
              <a:rPr lang="en-US" dirty="0"/>
              <a:t>Project-</a:t>
            </a:r>
            <a:r>
              <a:rPr lang="en-US" dirty="0" err="1"/>
              <a:t>gridsense</a:t>
            </a:r>
            <a:endParaRPr lang="en-US" dirty="0"/>
          </a:p>
        </p:txBody>
      </p:sp>
      <p:sp>
        <p:nvSpPr>
          <p:cNvPr id="3" name="Content Placeholder 2">
            <a:extLst>
              <a:ext uri="{FF2B5EF4-FFF2-40B4-BE49-F238E27FC236}">
                <a16:creationId xmlns:a16="http://schemas.microsoft.com/office/drawing/2014/main" id="{D28EAC38-846B-22EE-C0CB-0E7CF0CF4CC4}"/>
              </a:ext>
            </a:extLst>
          </p:cNvPr>
          <p:cNvSpPr>
            <a:spLocks noGrp="1"/>
          </p:cNvSpPr>
          <p:nvPr>
            <p:ph idx="1"/>
          </p:nvPr>
        </p:nvSpPr>
        <p:spPr/>
        <p:txBody>
          <a:bodyPr>
            <a:normAutofit fontScale="92500" lnSpcReduction="20000"/>
          </a:bodyPr>
          <a:lstStyle/>
          <a:p>
            <a:r>
              <a:rPr lang="en-US" dirty="0"/>
              <a:t>Team and domain</a:t>
            </a:r>
          </a:p>
          <a:p>
            <a:r>
              <a:rPr lang="en-US" dirty="0"/>
              <a:t>Team name - brainbyte</a:t>
            </a:r>
          </a:p>
          <a:p>
            <a:endParaRPr lang="en-US" dirty="0"/>
          </a:p>
          <a:p>
            <a:r>
              <a:rPr lang="en-US" dirty="0"/>
              <a:t>Team members:</a:t>
            </a:r>
          </a:p>
          <a:p>
            <a:pPr marL="342900" indent="-342900">
              <a:buFont typeface="+mj-lt"/>
              <a:buAutoNum type="arabicPeriod"/>
            </a:pPr>
            <a:r>
              <a:rPr lang="en-US" dirty="0"/>
              <a:t>Krithik.S.T- CB.EN.U4EEE25021</a:t>
            </a:r>
          </a:p>
          <a:p>
            <a:pPr marL="342900" indent="-342900">
              <a:buFont typeface="+mj-lt"/>
              <a:buAutoNum type="arabicPeriod"/>
            </a:pPr>
            <a:r>
              <a:rPr lang="en-US" dirty="0" err="1"/>
              <a:t>Bhuvanesh.L</a:t>
            </a:r>
            <a:r>
              <a:rPr lang="en-US" dirty="0"/>
              <a:t> -  CB.EN.U4EEE25009</a:t>
            </a:r>
          </a:p>
          <a:p>
            <a:pPr marL="342900" indent="-342900">
              <a:buFont typeface="+mj-lt"/>
              <a:buAutoNum type="arabicPeriod"/>
            </a:pPr>
            <a:r>
              <a:rPr lang="en-US" dirty="0"/>
              <a:t>Botla Anil  -  CB.EN.U4EEE25010</a:t>
            </a:r>
          </a:p>
          <a:p>
            <a:pPr marL="342900" indent="-342900">
              <a:buFont typeface="+mj-lt"/>
              <a:buAutoNum type="arabicPeriod"/>
            </a:pPr>
            <a:r>
              <a:rPr lang="en-US" dirty="0"/>
              <a:t>Dhivya </a:t>
            </a:r>
            <a:r>
              <a:rPr lang="en-US" dirty="0" err="1"/>
              <a:t>Balan.T.S</a:t>
            </a:r>
            <a:r>
              <a:rPr lang="en-US" dirty="0"/>
              <a:t> - CB.EN.U4EEE25012</a:t>
            </a:r>
          </a:p>
          <a:p>
            <a:endParaRPr lang="en-US" dirty="0"/>
          </a:p>
          <a:p>
            <a:r>
              <a:rPr lang="en-US" dirty="0"/>
              <a:t>Selected domain – domain #2</a:t>
            </a:r>
          </a:p>
          <a:p>
            <a:endParaRPr lang="en-US" dirty="0"/>
          </a:p>
          <a:p>
            <a:r>
              <a:rPr lang="en-US" dirty="0"/>
              <a:t>problem statement:</a:t>
            </a:r>
          </a:p>
          <a:p>
            <a:pPr marL="0" indent="0">
              <a:buNone/>
            </a:pPr>
            <a:r>
              <a:rPr lang="en-US" dirty="0"/>
              <a:t>                                        a smart grid managing system which can effectively manage local renewable sources such as solar power to high demand zones (EV charging household) efficiently controlling bidirectional flow of electricity.</a:t>
            </a:r>
          </a:p>
        </p:txBody>
      </p:sp>
    </p:spTree>
    <p:extLst>
      <p:ext uri="{BB962C8B-B14F-4D97-AF65-F5344CB8AC3E}">
        <p14:creationId xmlns:p14="http://schemas.microsoft.com/office/powerpoint/2010/main" val="325529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967D69-EF91-B8A9-0E91-7BA694281CFC}"/>
              </a:ext>
            </a:extLst>
          </p:cNvPr>
          <p:cNvSpPr>
            <a:spLocks noGrp="1"/>
          </p:cNvSpPr>
          <p:nvPr>
            <p:ph idx="1"/>
          </p:nvPr>
        </p:nvSpPr>
        <p:spPr>
          <a:xfrm>
            <a:off x="429417" y="365760"/>
            <a:ext cx="11247471" cy="6073140"/>
          </a:xfrm>
        </p:spPr>
        <p:txBody>
          <a:bodyPr/>
          <a:lstStyle/>
          <a:p>
            <a:endParaRPr lang="en-US" dirty="0"/>
          </a:p>
          <a:p>
            <a:r>
              <a:rPr lang="en-US" dirty="0"/>
              <a:t>What exactly needs to be resolved?</a:t>
            </a:r>
          </a:p>
          <a:p>
            <a:pPr marL="0" indent="0">
              <a:buNone/>
            </a:pPr>
            <a:r>
              <a:rPr lang="en-US" dirty="0"/>
              <a:t>                                                                    today’s power girds are struggling to handle bi-directional flow of electricity.  Bi-directional  refers to local power producing sources such as solar and wind energy and high demanding regions that consume power for EV charging. Redirecting electricity for such a huge system of sources and sinks except the main line is tedious if done manually. The modern sources and sinks are highly variable. For instance ,  solar energy reaches its peak at noon but humans demand high electricity and night times. There is a need for a smart system to manage all the additional traffic other than the main lines to ensure uniform and uninterrupted power supply.</a:t>
            </a:r>
          </a:p>
          <a:p>
            <a:pPr marL="0" indent="0">
              <a:buNone/>
            </a:pPr>
            <a:endParaRPr lang="en-US" dirty="0"/>
          </a:p>
          <a:p>
            <a:r>
              <a:rPr lang="en-US" dirty="0"/>
              <a:t>Why is it important right now?</a:t>
            </a:r>
            <a:br>
              <a:rPr lang="en-US" dirty="0"/>
            </a:br>
            <a:r>
              <a:rPr lang="en-US" dirty="0"/>
              <a:t>                                                    now is the best time to enhance the grid. Make it smart. Make it take its own decision by observing patterns. Through history, until now, the power flow was mostly from the power plants to households. But recently, trend of installing solar panels for household needs and giving the surplus to the grid has become a new trend. Similarly, the usage of EV’s has also become a popular among civilians. Such electrical vehicles demand higher power consumption from grid than normal for charging. A smarter grid means power produced by renewable sources could somehow be used for high demand durations.</a:t>
            </a:r>
          </a:p>
        </p:txBody>
      </p:sp>
    </p:spTree>
    <p:extLst>
      <p:ext uri="{BB962C8B-B14F-4D97-AF65-F5344CB8AC3E}">
        <p14:creationId xmlns:p14="http://schemas.microsoft.com/office/powerpoint/2010/main" val="1975400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F0B61B-3DA1-369C-208C-A1E46AD082C6}"/>
              </a:ext>
            </a:extLst>
          </p:cNvPr>
          <p:cNvSpPr>
            <a:spLocks noGrp="1"/>
          </p:cNvSpPr>
          <p:nvPr>
            <p:ph idx="1"/>
          </p:nvPr>
        </p:nvSpPr>
        <p:spPr>
          <a:xfrm>
            <a:off x="699660" y="673768"/>
            <a:ext cx="10515600" cy="5437412"/>
          </a:xfrm>
        </p:spPr>
        <p:txBody>
          <a:bodyPr/>
          <a:lstStyle/>
          <a:p>
            <a:r>
              <a:rPr lang="en-US" b="1" dirty="0"/>
              <a:t>Primary users target group:</a:t>
            </a:r>
          </a:p>
          <a:p>
            <a:pPr marL="342900" indent="-342900">
              <a:buFont typeface="+mj-lt"/>
              <a:buAutoNum type="arabicPeriod"/>
            </a:pPr>
            <a:r>
              <a:rPr lang="en-US" dirty="0"/>
              <a:t>Power distribution companies/discoms: grid managing companies who take responsibilities in replacing burnt transformers and other expenses.</a:t>
            </a:r>
          </a:p>
          <a:p>
            <a:pPr marL="342900" indent="-342900">
              <a:buFont typeface="+mj-lt"/>
              <a:buAutoNum type="arabicPeriod"/>
            </a:pPr>
            <a:r>
              <a:rPr lang="en-US" dirty="0"/>
              <a:t>Municipalities and smart city authorities.</a:t>
            </a:r>
          </a:p>
          <a:p>
            <a:r>
              <a:rPr lang="en-US" b="1" dirty="0"/>
              <a:t>Secondary stakeholders:</a:t>
            </a:r>
          </a:p>
          <a:p>
            <a:pPr marL="342900" indent="-342900">
              <a:buFont typeface="+mj-lt"/>
              <a:buAutoNum type="arabicPeriod"/>
            </a:pPr>
            <a:r>
              <a:rPr lang="en-US" dirty="0"/>
              <a:t>Ev owners and charging station operators</a:t>
            </a:r>
          </a:p>
          <a:p>
            <a:pPr marL="342900" indent="-342900">
              <a:buFont typeface="+mj-lt"/>
              <a:buAutoNum type="arabicPeriod"/>
            </a:pPr>
            <a:r>
              <a:rPr lang="en-US" dirty="0"/>
              <a:t>Rooftop solar consumers</a:t>
            </a:r>
          </a:p>
          <a:p>
            <a:pPr marL="342900" indent="-342900">
              <a:buFont typeface="+mj-lt"/>
              <a:buAutoNum type="arabicPeriod"/>
            </a:pPr>
            <a:r>
              <a:rPr lang="en-US" dirty="0"/>
              <a:t>State load dispatch centers</a:t>
            </a:r>
          </a:p>
          <a:p>
            <a:r>
              <a:rPr lang="en-US" b="1" dirty="0"/>
              <a:t>Who gets benefited?</a:t>
            </a:r>
          </a:p>
          <a:p>
            <a:pPr marL="342900" indent="-342900">
              <a:buFont typeface="+mj-lt"/>
              <a:buAutoNum type="arabicPeriod"/>
            </a:pPr>
            <a:r>
              <a:rPr lang="en-US" dirty="0"/>
              <a:t>Discoms/ power distribution companies.</a:t>
            </a:r>
          </a:p>
          <a:p>
            <a:pPr marL="342900" indent="-342900">
              <a:buFont typeface="+mj-lt"/>
              <a:buAutoNum type="arabicPeriod"/>
            </a:pPr>
            <a:r>
              <a:rPr lang="en-US" dirty="0"/>
              <a:t>Residential consumers.</a:t>
            </a:r>
          </a:p>
          <a:p>
            <a:pPr marL="342900" indent="-342900">
              <a:buFont typeface="+mj-lt"/>
              <a:buAutoNum type="arabicPeriod"/>
            </a:pPr>
            <a:r>
              <a:rPr lang="en-US" dirty="0"/>
              <a:t>The environment and clean energy transition.</a:t>
            </a:r>
          </a:p>
        </p:txBody>
      </p:sp>
    </p:spTree>
    <p:extLst>
      <p:ext uri="{BB962C8B-B14F-4D97-AF65-F5344CB8AC3E}">
        <p14:creationId xmlns:p14="http://schemas.microsoft.com/office/powerpoint/2010/main" val="2552671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03C308-A3DF-D6B8-E02C-61C90A0A6CF5}"/>
              </a:ext>
            </a:extLst>
          </p:cNvPr>
          <p:cNvSpPr>
            <a:spLocks noGrp="1"/>
          </p:cNvSpPr>
          <p:nvPr>
            <p:ph idx="1"/>
          </p:nvPr>
        </p:nvSpPr>
        <p:spPr>
          <a:xfrm>
            <a:off x="699660" y="704088"/>
            <a:ext cx="10515600" cy="5407092"/>
          </a:xfrm>
        </p:spPr>
        <p:txBody>
          <a:bodyPr/>
          <a:lstStyle/>
          <a:p>
            <a:r>
              <a:rPr lang="en-US" b="1" dirty="0"/>
              <a:t>Existing scenario and background:</a:t>
            </a:r>
          </a:p>
          <a:p>
            <a:pPr marL="342900" indent="-342900">
              <a:buFont typeface="+mj-lt"/>
              <a:buAutoNum type="arabicPeriod"/>
            </a:pPr>
            <a:r>
              <a:rPr lang="en-US" dirty="0"/>
              <a:t>the modern society has shown increasing trend in installing solar panels in their rooftops and a large population owns electric vehicles.</a:t>
            </a:r>
          </a:p>
          <a:p>
            <a:pPr marL="342900" indent="-342900">
              <a:buFont typeface="+mj-lt"/>
              <a:buAutoNum type="arabicPeriod"/>
            </a:pPr>
            <a:r>
              <a:rPr lang="en-US" dirty="0"/>
              <a:t> the existing legacy grid design is only meant for 10kv/400v static, one-way power flow. The grid doesn’t have any control measures for extreme disruptions or additional power source interventions.</a:t>
            </a:r>
          </a:p>
          <a:p>
            <a:pPr marL="342900" indent="-342900">
              <a:buFont typeface="+mj-lt"/>
              <a:buAutoNum type="arabicPeriod"/>
            </a:pPr>
            <a:r>
              <a:rPr lang="en-US" dirty="0"/>
              <a:t>there exists a supply demand mismatch in today’s grid. Roof top solar panels produce abundant energy at noon times when the demand is less but  heavy consumption of power happens at night time when all the electric vehicles are charged by civilians overnight.</a:t>
            </a:r>
          </a:p>
          <a:p>
            <a:r>
              <a:rPr lang="en-US" b="1" dirty="0"/>
              <a:t>Relevant data and facts:</a:t>
            </a:r>
          </a:p>
          <a:p>
            <a:pPr marL="342900" indent="-342900">
              <a:buFont typeface="+mj-lt"/>
              <a:buAutoNum type="arabicPeriod"/>
            </a:pPr>
            <a:r>
              <a:rPr lang="en-US" dirty="0"/>
              <a:t>Evening ev loads cause local line voltage to drop from usual 230 v to 160-180 volts</a:t>
            </a:r>
          </a:p>
          <a:p>
            <a:pPr marL="342900" indent="-342900">
              <a:buFont typeface="+mj-lt"/>
              <a:buAutoNum type="arabicPeriod"/>
            </a:pPr>
            <a:r>
              <a:rPr lang="en-US" dirty="0"/>
              <a:t>Replacing burnt 250kva transformers cost 2.5 to 4 lakhs per failure in direct costs and billing revenue</a:t>
            </a:r>
          </a:p>
          <a:p>
            <a:pPr marL="342900" indent="-342900">
              <a:buFont typeface="+mj-lt"/>
              <a:buAutoNum type="arabicPeriod"/>
            </a:pPr>
            <a:r>
              <a:rPr lang="en-US" dirty="0"/>
              <a:t>Phase imbalance across residential 3 phase lines causes localized coil overheating in transformers accelerating transformer insulation breakdown by 30 percent.</a:t>
            </a:r>
          </a:p>
          <a:p>
            <a:r>
              <a:rPr lang="en-US" b="1" dirty="0"/>
              <a:t>Current work follow step by step:</a:t>
            </a:r>
          </a:p>
          <a:p>
            <a:pPr marL="0" indent="0">
              <a:buNone/>
            </a:pPr>
            <a:r>
              <a:rPr lang="en-US" dirty="0"/>
              <a:t>Commuter plug ev at 8 pm and other heavy home appliances like ac – high increase in draw rate of 400v line – line voltage sags to 160v and transformers overheat.- transformers trips or burns out leaving are in blackout</a:t>
            </a:r>
          </a:p>
          <a:p>
            <a:endParaRPr lang="en-US" dirty="0"/>
          </a:p>
          <a:p>
            <a:endParaRPr lang="en-US" dirty="0"/>
          </a:p>
        </p:txBody>
      </p:sp>
    </p:spTree>
    <p:extLst>
      <p:ext uri="{BB962C8B-B14F-4D97-AF65-F5344CB8AC3E}">
        <p14:creationId xmlns:p14="http://schemas.microsoft.com/office/powerpoint/2010/main" val="71927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523389-00A6-8B54-3294-B2F27565141B}"/>
              </a:ext>
            </a:extLst>
          </p:cNvPr>
          <p:cNvSpPr>
            <a:spLocks noGrp="1"/>
          </p:cNvSpPr>
          <p:nvPr>
            <p:ph idx="1"/>
          </p:nvPr>
        </p:nvSpPr>
        <p:spPr>
          <a:xfrm>
            <a:off x="699660" y="802105"/>
            <a:ext cx="10515600" cy="5309075"/>
          </a:xfrm>
        </p:spPr>
        <p:txBody>
          <a:bodyPr/>
          <a:lstStyle/>
          <a:p>
            <a:r>
              <a:rPr lang="en-US" b="1" dirty="0"/>
              <a:t>Main bottlenecks and difficulties:</a:t>
            </a:r>
          </a:p>
          <a:p>
            <a:pPr marL="342900" indent="-342900">
              <a:buFont typeface="+mj-lt"/>
              <a:buAutoNum type="arabicPeriod"/>
            </a:pPr>
            <a:r>
              <a:rPr lang="en-US" dirty="0"/>
              <a:t>In local level, a substation lacks of infrastructure to monitor localized power usages and surges.</a:t>
            </a:r>
          </a:p>
          <a:p>
            <a:pPr marL="342900" indent="-342900">
              <a:buFont typeface="+mj-lt"/>
              <a:buAutoNum type="arabicPeriod"/>
            </a:pPr>
            <a:r>
              <a:rPr lang="en-US" dirty="0"/>
              <a:t>.unmanaged phase usage in a single phase due to solar or ev interventions causes severe imbalance across R,Y and B phases.</a:t>
            </a:r>
          </a:p>
          <a:p>
            <a:pPr marL="342900" indent="-342900">
              <a:buFont typeface="+mj-lt"/>
              <a:buAutoNum type="arabicPeriod"/>
            </a:pPr>
            <a:r>
              <a:rPr lang="en-US" dirty="0"/>
              <a:t>The </a:t>
            </a:r>
            <a:r>
              <a:rPr lang="en-US" dirty="0" err="1"/>
              <a:t>eb</a:t>
            </a:r>
            <a:r>
              <a:rPr lang="en-US" dirty="0"/>
              <a:t> stations have an extremely delayed response often responding after a major catastrophe like a transformer breakdown happens.</a:t>
            </a:r>
          </a:p>
          <a:p>
            <a:r>
              <a:rPr lang="en-US" b="1" dirty="0"/>
              <a:t>Root causes:</a:t>
            </a:r>
          </a:p>
          <a:p>
            <a:pPr marL="342900" indent="-342900">
              <a:buFont typeface="+mj-lt"/>
              <a:buAutoNum type="arabicPeriod"/>
            </a:pPr>
            <a:r>
              <a:rPr lang="en-US" dirty="0"/>
              <a:t>The inability of the legacy grid design to handle modern dynamic loads and sources.</a:t>
            </a:r>
          </a:p>
          <a:p>
            <a:pPr marL="342900" indent="-342900">
              <a:buFont typeface="+mj-lt"/>
              <a:buAutoNum type="arabicPeriod"/>
            </a:pPr>
            <a:r>
              <a:rPr lang="en-US" dirty="0"/>
              <a:t>Unregulated heavy draw or feeding of power due to ev and solar intervention respectively.</a:t>
            </a:r>
          </a:p>
          <a:p>
            <a:pPr marL="342900" indent="-342900">
              <a:buFont typeface="+mj-lt"/>
              <a:buAutoNum type="arabicPeriod"/>
            </a:pPr>
            <a:r>
              <a:rPr lang="en-US" dirty="0"/>
              <a:t>Domestic loads are fixed to particular phases without dynamic solid state switching capabilities.</a:t>
            </a:r>
          </a:p>
          <a:p>
            <a:r>
              <a:rPr lang="en-US" b="1" dirty="0"/>
              <a:t>Consequences of leaving them unsolved:</a:t>
            </a:r>
          </a:p>
          <a:p>
            <a:pPr marL="342900" indent="-342900">
              <a:buFont typeface="+mj-lt"/>
              <a:buAutoNum type="arabicPeriod"/>
            </a:pPr>
            <a:r>
              <a:rPr lang="en-US" dirty="0"/>
              <a:t>Phase imbalances cause localized thermal overloads causing transformer insulation breakdowns.</a:t>
            </a:r>
          </a:p>
          <a:p>
            <a:pPr marL="342900" indent="-342900">
              <a:buFont typeface="+mj-lt"/>
              <a:buAutoNum type="arabicPeriod"/>
            </a:pPr>
            <a:r>
              <a:rPr lang="en-US" dirty="0"/>
              <a:t>Frequent outage of power due to evening ev loads.</a:t>
            </a:r>
          </a:p>
          <a:p>
            <a:pPr marL="342900" indent="-342900">
              <a:buFont typeface="+mj-lt"/>
              <a:buAutoNum type="arabicPeriod"/>
            </a:pPr>
            <a:r>
              <a:rPr lang="en-US" dirty="0"/>
              <a:t>High cost of repair for local discoms who have to replace entire transformers frequently.</a:t>
            </a:r>
          </a:p>
        </p:txBody>
      </p:sp>
    </p:spTree>
    <p:extLst>
      <p:ext uri="{BB962C8B-B14F-4D97-AF65-F5344CB8AC3E}">
        <p14:creationId xmlns:p14="http://schemas.microsoft.com/office/powerpoint/2010/main" val="3344735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BBED0-A630-2632-B913-65E1BCF76762}"/>
              </a:ext>
            </a:extLst>
          </p:cNvPr>
          <p:cNvSpPr>
            <a:spLocks noGrp="1"/>
          </p:cNvSpPr>
          <p:nvPr>
            <p:ph idx="1"/>
          </p:nvPr>
        </p:nvSpPr>
        <p:spPr>
          <a:xfrm>
            <a:off x="699660" y="802105"/>
            <a:ext cx="10515600" cy="5309075"/>
          </a:xfrm>
        </p:spPr>
        <p:txBody>
          <a:bodyPr>
            <a:normAutofit lnSpcReduction="10000"/>
          </a:bodyPr>
          <a:lstStyle/>
          <a:p>
            <a:r>
              <a:rPr lang="en-US" b="1" dirty="0"/>
              <a:t>Existing methods:</a:t>
            </a:r>
          </a:p>
          <a:p>
            <a:pPr marL="342900" indent="-342900">
              <a:buFont typeface="+mj-lt"/>
              <a:buAutoNum type="arabicPeriod"/>
            </a:pPr>
            <a:r>
              <a:rPr lang="en-US" dirty="0"/>
              <a:t>On load tap changers (</a:t>
            </a:r>
            <a:r>
              <a:rPr lang="en-US" dirty="0" err="1"/>
              <a:t>oltcs</a:t>
            </a:r>
            <a:r>
              <a:rPr lang="en-US" dirty="0"/>
              <a:t>): physical contacts existing inside the transformer adjusting number of coils as per usage</a:t>
            </a:r>
          </a:p>
          <a:p>
            <a:pPr marL="342900" indent="-342900">
              <a:buFont typeface="+mj-lt"/>
              <a:buAutoNum type="arabicPeriod"/>
            </a:pPr>
            <a:r>
              <a:rPr lang="en-US" dirty="0"/>
              <a:t>capacitor banks: pushes in reactive power in circuit when high inductive loads are applied</a:t>
            </a:r>
          </a:p>
          <a:p>
            <a:pPr marL="342900" indent="-342900">
              <a:buFont typeface="+mj-lt"/>
              <a:buAutoNum type="arabicPeriod"/>
            </a:pPr>
            <a:r>
              <a:rPr lang="en-US" dirty="0"/>
              <a:t>Centralized Scada: a centralized meter existing to monitor usage levels in primary level and high voltage power lines.</a:t>
            </a:r>
          </a:p>
          <a:p>
            <a:pPr marL="342900" indent="-342900">
              <a:buFont typeface="+mj-lt"/>
              <a:buAutoNum type="arabicPeriod"/>
            </a:pPr>
            <a:r>
              <a:rPr lang="en-US" dirty="0"/>
              <a:t>smart meter infrastructure: every residential meter in households in connected via internet for managing.</a:t>
            </a:r>
          </a:p>
          <a:p>
            <a:pPr marL="342900" indent="-342900">
              <a:buFont typeface="+mj-lt"/>
              <a:buAutoNum type="arabicPeriod"/>
            </a:pPr>
            <a:r>
              <a:rPr lang="en-US" dirty="0"/>
              <a:t>Manual load shedding: deliberate power outage initiated by engineers to prevent equipment damage.</a:t>
            </a:r>
          </a:p>
          <a:p>
            <a:r>
              <a:rPr lang="en-US" b="1" dirty="0"/>
              <a:t>Limitations of each:</a:t>
            </a:r>
          </a:p>
          <a:p>
            <a:pPr marL="342900" indent="-342900">
              <a:buFont typeface="+mj-lt"/>
              <a:buAutoNum type="arabicPeriod"/>
            </a:pPr>
            <a:r>
              <a:rPr lang="en-US" dirty="0"/>
              <a:t>Mechanical lag because physical movement inside transformer takes time and high maintenance due to mechanical war and tear.</a:t>
            </a:r>
          </a:p>
          <a:p>
            <a:pPr marL="342900" indent="-342900">
              <a:buFont typeface="+mj-lt"/>
              <a:buAutoNum type="arabicPeriod"/>
            </a:pPr>
            <a:r>
              <a:rPr lang="en-US" dirty="0"/>
              <a:t>High latency due to the delay in the data received by discom centers.</a:t>
            </a:r>
          </a:p>
          <a:p>
            <a:pPr marL="342900" indent="-342900">
              <a:buFont typeface="+mj-lt"/>
              <a:buAutoNum type="arabicPeriod"/>
            </a:pPr>
            <a:r>
              <a:rPr lang="en-US" dirty="0"/>
              <a:t>Entire cities face outage because of few people owning high consumption loads.</a:t>
            </a:r>
          </a:p>
          <a:p>
            <a:r>
              <a:rPr lang="en-US" b="1" dirty="0"/>
              <a:t>Gap, they leave open:</a:t>
            </a:r>
          </a:p>
          <a:p>
            <a:r>
              <a:rPr lang="en-US" dirty="0"/>
              <a:t>No sub second automation meaning there is a real need for managing individual lines ion secondary level. </a:t>
            </a:r>
          </a:p>
          <a:p>
            <a:r>
              <a:rPr lang="en-US" dirty="0"/>
              <a:t>Inability to handle bidirectional flow</a:t>
            </a:r>
          </a:p>
          <a:p>
            <a:r>
              <a:rPr lang="en-US" dirty="0"/>
              <a:t>Unresolved phase imbalance</a:t>
            </a:r>
          </a:p>
        </p:txBody>
      </p:sp>
    </p:spTree>
    <p:extLst>
      <p:ext uri="{BB962C8B-B14F-4D97-AF65-F5344CB8AC3E}">
        <p14:creationId xmlns:p14="http://schemas.microsoft.com/office/powerpoint/2010/main" val="2117099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D2038-66F7-02D1-3906-A6EF59D0CC5E}"/>
              </a:ext>
            </a:extLst>
          </p:cNvPr>
          <p:cNvSpPr>
            <a:spLocks noGrp="1"/>
          </p:cNvSpPr>
          <p:nvPr>
            <p:ph idx="1"/>
          </p:nvPr>
        </p:nvSpPr>
        <p:spPr>
          <a:xfrm>
            <a:off x="699660" y="834189"/>
            <a:ext cx="10515600" cy="5276991"/>
          </a:xfrm>
        </p:spPr>
        <p:txBody>
          <a:bodyPr>
            <a:normAutofit fontScale="92500" lnSpcReduction="10000"/>
          </a:bodyPr>
          <a:lstStyle/>
          <a:p>
            <a:r>
              <a:rPr lang="en-US" b="1" dirty="0"/>
              <a:t>Hardware requirements:</a:t>
            </a:r>
          </a:p>
          <a:p>
            <a:pPr marL="342900" indent="-342900">
              <a:buFont typeface="+mj-lt"/>
              <a:buAutoNum type="arabicPeriod"/>
            </a:pPr>
            <a:r>
              <a:rPr lang="en-US" dirty="0"/>
              <a:t>Edge processing unit</a:t>
            </a:r>
          </a:p>
          <a:p>
            <a:pPr marL="342900" indent="-342900">
              <a:buFont typeface="+mj-lt"/>
              <a:buAutoNum type="arabicPeriod"/>
            </a:pPr>
            <a:r>
              <a:rPr lang="en-US" dirty="0"/>
              <a:t>Sensors and measurement devices to record and analyze usage in Realtime.</a:t>
            </a:r>
          </a:p>
          <a:p>
            <a:pPr marL="342900" indent="-342900">
              <a:buFont typeface="+mj-lt"/>
              <a:buAutoNum type="arabicPeriod"/>
            </a:pPr>
            <a:r>
              <a:rPr lang="en-US" dirty="0"/>
              <a:t>Power electronics and switching to divert power in need and to prevent equipment damage</a:t>
            </a:r>
          </a:p>
          <a:p>
            <a:pPr marL="342900" indent="-342900">
              <a:buFont typeface="+mj-lt"/>
              <a:buAutoNum type="arabicPeriod"/>
            </a:pPr>
            <a:r>
              <a:rPr lang="en-US" dirty="0"/>
              <a:t>Storage in terms of BESS (battery energy storage system).</a:t>
            </a:r>
          </a:p>
          <a:p>
            <a:pPr marL="342900" indent="-342900">
              <a:buFont typeface="+mj-lt"/>
              <a:buAutoNum type="arabicPeriod"/>
            </a:pPr>
            <a:r>
              <a:rPr lang="en-US" dirty="0"/>
              <a:t>Telemetry devices – automatic measurement and transmission of consumption data in Realtime to the monitoring consoles.</a:t>
            </a:r>
          </a:p>
          <a:p>
            <a:r>
              <a:rPr lang="en-US" b="1" dirty="0"/>
              <a:t>Software requirements:</a:t>
            </a:r>
          </a:p>
          <a:p>
            <a:pPr marL="342900" indent="-342900">
              <a:buFont typeface="+mj-lt"/>
              <a:buAutoNum type="arabicPeriod"/>
            </a:pPr>
            <a:r>
              <a:rPr lang="en-US" dirty="0"/>
              <a:t>Embedded firmware to run the actual software </a:t>
            </a:r>
          </a:p>
          <a:p>
            <a:pPr marL="342900" indent="-342900">
              <a:buFont typeface="+mj-lt"/>
              <a:buAutoNum type="arabicPeriod"/>
            </a:pPr>
            <a:r>
              <a:rPr lang="en-US" dirty="0"/>
              <a:t>Edge ai model engine  for the analysis decision making system</a:t>
            </a:r>
          </a:p>
          <a:p>
            <a:pPr marL="342900" indent="-342900">
              <a:buFont typeface="+mj-lt"/>
              <a:buAutoNum type="arabicPeriod"/>
            </a:pPr>
            <a:r>
              <a:rPr lang="en-US" dirty="0"/>
              <a:t>Communication protocols and cloud and monitoring dashboards to relay data to the discoms for management.</a:t>
            </a:r>
          </a:p>
          <a:p>
            <a:r>
              <a:rPr lang="en-US" b="1" dirty="0"/>
              <a:t>Other resources</a:t>
            </a:r>
          </a:p>
          <a:p>
            <a:pPr marL="342900" indent="-342900">
              <a:buFont typeface="+mj-lt"/>
              <a:buAutoNum type="arabicPeriod"/>
            </a:pPr>
            <a:r>
              <a:rPr lang="en-US" dirty="0"/>
              <a:t>Power electronics engineer.</a:t>
            </a:r>
          </a:p>
          <a:p>
            <a:pPr marL="342900" indent="-342900">
              <a:buFont typeface="+mj-lt"/>
              <a:buAutoNum type="arabicPeriod"/>
            </a:pPr>
            <a:r>
              <a:rPr lang="en-US" dirty="0" err="1"/>
              <a:t>Ml</a:t>
            </a:r>
            <a:r>
              <a:rPr lang="en-US" dirty="0"/>
              <a:t> edge ai developer.</a:t>
            </a:r>
          </a:p>
          <a:p>
            <a:pPr marL="342900" indent="-342900">
              <a:buFont typeface="+mj-lt"/>
              <a:buAutoNum type="arabicPeriod"/>
            </a:pPr>
            <a:r>
              <a:rPr lang="en-US" dirty="0"/>
              <a:t>Testing equipment and test bench.</a:t>
            </a:r>
          </a:p>
          <a:p>
            <a:pPr marL="342900" indent="-342900">
              <a:buFont typeface="+mj-lt"/>
              <a:buAutoNum type="arabicPeriod"/>
            </a:pPr>
            <a:r>
              <a:rPr lang="en-US" dirty="0"/>
              <a:t>Utility and field consultant.</a:t>
            </a:r>
          </a:p>
        </p:txBody>
      </p:sp>
    </p:spTree>
    <p:extLst>
      <p:ext uri="{BB962C8B-B14F-4D97-AF65-F5344CB8AC3E}">
        <p14:creationId xmlns:p14="http://schemas.microsoft.com/office/powerpoint/2010/main" val="1807483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8DA554-B6C3-C39A-294E-4E8A8828DD0E}"/>
              </a:ext>
            </a:extLst>
          </p:cNvPr>
          <p:cNvSpPr>
            <a:spLocks noGrp="1"/>
          </p:cNvSpPr>
          <p:nvPr>
            <p:ph idx="1"/>
          </p:nvPr>
        </p:nvSpPr>
        <p:spPr>
          <a:xfrm>
            <a:off x="699660" y="802105"/>
            <a:ext cx="10515600" cy="5309075"/>
          </a:xfrm>
        </p:spPr>
        <p:txBody>
          <a:bodyPr/>
          <a:lstStyle/>
          <a:p>
            <a:r>
              <a:rPr lang="en-US" b="1" dirty="0"/>
              <a:t>What we intend to do:</a:t>
            </a:r>
          </a:p>
          <a:p>
            <a:pPr marL="342900" indent="-342900">
              <a:buFont typeface="+mj-lt"/>
              <a:buAutoNum type="arabicPeriod"/>
            </a:pPr>
            <a:r>
              <a:rPr lang="en-US" dirty="0"/>
              <a:t>Deploy edge ai hardware</a:t>
            </a:r>
          </a:p>
          <a:p>
            <a:pPr marL="342900" indent="-342900">
              <a:buFont typeface="+mj-lt"/>
              <a:buAutoNum type="arabicPeriod"/>
            </a:pPr>
            <a:r>
              <a:rPr lang="en-US" dirty="0"/>
              <a:t>Integrate three pilar control</a:t>
            </a:r>
          </a:p>
          <a:p>
            <a:pPr marL="342900" indent="-342900">
              <a:buFont typeface="+mj-lt"/>
              <a:buAutoNum type="arabicPeriod"/>
            </a:pPr>
            <a:r>
              <a:rPr lang="en-US" dirty="0"/>
              <a:t>Enable sub secondary telemetry(automated information relay)</a:t>
            </a:r>
          </a:p>
          <a:p>
            <a:r>
              <a:rPr lang="en-US" b="1" dirty="0"/>
              <a:t>What we would improve:</a:t>
            </a:r>
          </a:p>
          <a:p>
            <a:pPr marL="342900" indent="-342900">
              <a:buFont typeface="+mj-lt"/>
              <a:buAutoNum type="arabicPeriod"/>
            </a:pPr>
            <a:r>
              <a:rPr lang="en-US" dirty="0"/>
              <a:t>Low power quality</a:t>
            </a:r>
          </a:p>
          <a:p>
            <a:pPr marL="342900" indent="-342900">
              <a:buFont typeface="+mj-lt"/>
              <a:buAutoNum type="arabicPeriod"/>
            </a:pPr>
            <a:r>
              <a:rPr lang="en-US" dirty="0"/>
              <a:t>Transformer lifespan and thermal health</a:t>
            </a:r>
          </a:p>
          <a:p>
            <a:pPr marL="342900" indent="-342900">
              <a:buFont typeface="+mj-lt"/>
              <a:buAutoNum type="arabicPeriod"/>
            </a:pPr>
            <a:r>
              <a:rPr lang="en-US" dirty="0"/>
              <a:t>Solar absorption efficiency</a:t>
            </a:r>
          </a:p>
          <a:p>
            <a:r>
              <a:rPr lang="en-US" b="1" dirty="0"/>
              <a:t>What successful improvements we should achieve?</a:t>
            </a:r>
          </a:p>
          <a:p>
            <a:pPr marL="342900" indent="-342900">
              <a:buFont typeface="+mj-lt"/>
              <a:buAutoNum type="arabicPeriod"/>
            </a:pPr>
            <a:r>
              <a:rPr lang="en-US" dirty="0"/>
              <a:t>grid protection from power surges.</a:t>
            </a:r>
          </a:p>
          <a:p>
            <a:pPr marL="342900" indent="-342900">
              <a:buFont typeface="+mj-lt"/>
              <a:buAutoNum type="arabicPeriod"/>
            </a:pPr>
            <a:r>
              <a:rPr lang="en-US" dirty="0"/>
              <a:t>Sub second grid response.</a:t>
            </a:r>
          </a:p>
          <a:p>
            <a:pPr marL="342900" indent="-342900">
              <a:buFont typeface="+mj-lt"/>
              <a:buAutoNum type="arabicPeriod"/>
            </a:pPr>
            <a:r>
              <a:rPr lang="en-US" dirty="0"/>
              <a:t>low discom expenditure in replacing transformers and other equipment.</a:t>
            </a:r>
          </a:p>
        </p:txBody>
      </p:sp>
    </p:spTree>
    <p:extLst>
      <p:ext uri="{BB962C8B-B14F-4D97-AF65-F5344CB8AC3E}">
        <p14:creationId xmlns:p14="http://schemas.microsoft.com/office/powerpoint/2010/main" val="676518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F8A9F49-9209-2ECA-A1F2-ECDA37041ABB}"/>
              </a:ext>
            </a:extLst>
          </p:cNvPr>
          <p:cNvGraphicFramePr>
            <a:graphicFrameLocks noGrp="1"/>
          </p:cNvGraphicFramePr>
          <p:nvPr>
            <p:ph idx="1"/>
            <p:extLst>
              <p:ext uri="{D42A27DB-BD31-4B8C-83A1-F6EECF244321}">
                <p14:modId xmlns:p14="http://schemas.microsoft.com/office/powerpoint/2010/main" val="2205225307"/>
              </p:ext>
            </p:extLst>
          </p:nvPr>
        </p:nvGraphicFramePr>
        <p:xfrm>
          <a:off x="700088" y="673769"/>
          <a:ext cx="10515597" cy="5213685"/>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875418005"/>
                    </a:ext>
                  </a:extLst>
                </a:gridCol>
                <a:gridCol w="3505199">
                  <a:extLst>
                    <a:ext uri="{9D8B030D-6E8A-4147-A177-3AD203B41FA5}">
                      <a16:colId xmlns:a16="http://schemas.microsoft.com/office/drawing/2014/main" val="2059252594"/>
                    </a:ext>
                  </a:extLst>
                </a:gridCol>
                <a:gridCol w="3505199">
                  <a:extLst>
                    <a:ext uri="{9D8B030D-6E8A-4147-A177-3AD203B41FA5}">
                      <a16:colId xmlns:a16="http://schemas.microsoft.com/office/drawing/2014/main" val="1818489731"/>
                    </a:ext>
                  </a:extLst>
                </a:gridCol>
              </a:tblGrid>
              <a:tr h="1042737">
                <a:tc>
                  <a:txBody>
                    <a:bodyPr/>
                    <a:lstStyle/>
                    <a:p>
                      <a:r>
                        <a:rPr lang="en-US" dirty="0"/>
                        <a:t>Team member</a:t>
                      </a:r>
                    </a:p>
                  </a:txBody>
                  <a:tcPr/>
                </a:tc>
                <a:tc>
                  <a:txBody>
                    <a:bodyPr/>
                    <a:lstStyle/>
                    <a:p>
                      <a:r>
                        <a:rPr lang="en-US" dirty="0"/>
                        <a:t>role</a:t>
                      </a:r>
                    </a:p>
                  </a:txBody>
                  <a:tcPr/>
                </a:tc>
                <a:tc>
                  <a:txBody>
                    <a:bodyPr/>
                    <a:lstStyle/>
                    <a:p>
                      <a:r>
                        <a:rPr lang="en-US" dirty="0"/>
                        <a:t>Responsibility in </a:t>
                      </a:r>
                      <a:r>
                        <a:rPr lang="en-US" dirty="0" err="1"/>
                        <a:t>exigution</a:t>
                      </a:r>
                      <a:endParaRPr lang="en-US" dirty="0"/>
                    </a:p>
                  </a:txBody>
                  <a:tcPr/>
                </a:tc>
                <a:extLst>
                  <a:ext uri="{0D108BD9-81ED-4DB2-BD59-A6C34878D82A}">
                    <a16:rowId xmlns:a16="http://schemas.microsoft.com/office/drawing/2014/main" val="744251871"/>
                  </a:ext>
                </a:extLst>
              </a:tr>
              <a:tr h="1042737">
                <a:tc>
                  <a:txBody>
                    <a:bodyPr/>
                    <a:lstStyle/>
                    <a:p>
                      <a:r>
                        <a:rPr lang="en-US" dirty="0"/>
                        <a:t>Dhivya </a:t>
                      </a:r>
                      <a:r>
                        <a:rPr lang="en-US" dirty="0" err="1"/>
                        <a:t>balan</a:t>
                      </a:r>
                      <a:endParaRPr lang="en-US" dirty="0"/>
                    </a:p>
                  </a:txBody>
                  <a:tcPr/>
                </a:tc>
                <a:tc>
                  <a:txBody>
                    <a:bodyPr/>
                    <a:lstStyle/>
                    <a:p>
                      <a:r>
                        <a:rPr lang="en-US" dirty="0"/>
                        <a:t>Problem analysis</a:t>
                      </a:r>
                    </a:p>
                  </a:txBody>
                  <a:tcPr/>
                </a:tc>
                <a:tc>
                  <a:txBody>
                    <a:bodyPr/>
                    <a:lstStyle/>
                    <a:p>
                      <a:r>
                        <a:rPr lang="en-US" dirty="0"/>
                        <a:t>Analyses the existing problems and points out places of improvements</a:t>
                      </a:r>
                    </a:p>
                  </a:txBody>
                  <a:tcPr/>
                </a:tc>
                <a:extLst>
                  <a:ext uri="{0D108BD9-81ED-4DB2-BD59-A6C34878D82A}">
                    <a16:rowId xmlns:a16="http://schemas.microsoft.com/office/drawing/2014/main" val="466943788"/>
                  </a:ext>
                </a:extLst>
              </a:tr>
              <a:tr h="1042737">
                <a:tc>
                  <a:txBody>
                    <a:bodyPr/>
                    <a:lstStyle/>
                    <a:p>
                      <a:r>
                        <a:rPr lang="en-US" dirty="0" err="1"/>
                        <a:t>krithik</a:t>
                      </a:r>
                      <a:endParaRPr lang="en-US" dirty="0"/>
                    </a:p>
                  </a:txBody>
                  <a:tcPr/>
                </a:tc>
                <a:tc>
                  <a:txBody>
                    <a:bodyPr/>
                    <a:lstStyle/>
                    <a:p>
                      <a:r>
                        <a:rPr lang="en-US" dirty="0"/>
                        <a:t>Data comparation and  statistics demonstration</a:t>
                      </a:r>
                    </a:p>
                  </a:txBody>
                  <a:tcPr/>
                </a:tc>
                <a:tc>
                  <a:txBody>
                    <a:bodyPr/>
                    <a:lstStyle/>
                    <a:p>
                      <a:r>
                        <a:rPr lang="en-US" dirty="0"/>
                        <a:t>The work needs to be done by humans to manage today’s grid to stabilize it</a:t>
                      </a:r>
                    </a:p>
                  </a:txBody>
                  <a:tcPr/>
                </a:tc>
                <a:extLst>
                  <a:ext uri="{0D108BD9-81ED-4DB2-BD59-A6C34878D82A}">
                    <a16:rowId xmlns:a16="http://schemas.microsoft.com/office/drawing/2014/main" val="2249948791"/>
                  </a:ext>
                </a:extLst>
              </a:tr>
              <a:tr h="1042737">
                <a:tc>
                  <a:txBody>
                    <a:bodyPr/>
                    <a:lstStyle/>
                    <a:p>
                      <a:r>
                        <a:rPr lang="en-US" dirty="0" err="1"/>
                        <a:t>Botla</a:t>
                      </a:r>
                      <a:r>
                        <a:rPr lang="en-US" dirty="0"/>
                        <a:t> anil</a:t>
                      </a:r>
                    </a:p>
                  </a:txBody>
                  <a:tcPr/>
                </a:tc>
                <a:tc>
                  <a:txBody>
                    <a:bodyPr/>
                    <a:lstStyle/>
                    <a:p>
                      <a:r>
                        <a:rPr lang="en-US" dirty="0" err="1"/>
                        <a:t>Ml</a:t>
                      </a:r>
                      <a:r>
                        <a:rPr lang="en-US" dirty="0"/>
                        <a:t> usage statistics</a:t>
                      </a:r>
                    </a:p>
                  </a:txBody>
                  <a:tcPr/>
                </a:tc>
                <a:tc>
                  <a:txBody>
                    <a:bodyPr/>
                    <a:lstStyle/>
                    <a:p>
                      <a:r>
                        <a:rPr lang="en-US" dirty="0"/>
                        <a:t>How ai’s interference is going to aid in managing modern grid</a:t>
                      </a:r>
                    </a:p>
                  </a:txBody>
                  <a:tcPr/>
                </a:tc>
                <a:extLst>
                  <a:ext uri="{0D108BD9-81ED-4DB2-BD59-A6C34878D82A}">
                    <a16:rowId xmlns:a16="http://schemas.microsoft.com/office/drawing/2014/main" val="1159881910"/>
                  </a:ext>
                </a:extLst>
              </a:tr>
              <a:tr h="1042737">
                <a:tc>
                  <a:txBody>
                    <a:bodyPr/>
                    <a:lstStyle/>
                    <a:p>
                      <a:r>
                        <a:rPr lang="en-US" dirty="0" err="1"/>
                        <a:t>bhuvanesh</a:t>
                      </a:r>
                      <a:endParaRPr lang="en-US" dirty="0"/>
                    </a:p>
                  </a:txBody>
                  <a:tcPr/>
                </a:tc>
                <a:tc>
                  <a:txBody>
                    <a:bodyPr/>
                    <a:lstStyle/>
                    <a:p>
                      <a:r>
                        <a:rPr lang="en-US" dirty="0"/>
                        <a:t>Prototype ideation and implementation</a:t>
                      </a:r>
                    </a:p>
                  </a:txBody>
                  <a:tcPr/>
                </a:tc>
                <a:tc>
                  <a:txBody>
                    <a:bodyPr/>
                    <a:lstStyle/>
                    <a:p>
                      <a:r>
                        <a:rPr lang="en-US"/>
                        <a:t>How the </a:t>
                      </a:r>
                      <a:r>
                        <a:rPr lang="en-US" dirty="0"/>
                        <a:t>product is going to work and its effects</a:t>
                      </a:r>
                    </a:p>
                  </a:txBody>
                  <a:tcPr/>
                </a:tc>
                <a:extLst>
                  <a:ext uri="{0D108BD9-81ED-4DB2-BD59-A6C34878D82A}">
                    <a16:rowId xmlns:a16="http://schemas.microsoft.com/office/drawing/2014/main" val="3912411456"/>
                  </a:ext>
                </a:extLst>
              </a:tr>
            </a:tbl>
          </a:graphicData>
        </a:graphic>
      </p:graphicFrame>
    </p:spTree>
    <p:extLst>
      <p:ext uri="{BB962C8B-B14F-4D97-AF65-F5344CB8AC3E}">
        <p14:creationId xmlns:p14="http://schemas.microsoft.com/office/powerpoint/2010/main" val="533158702"/>
      </p:ext>
    </p:extLst>
  </p:cSld>
  <p:clrMapOvr>
    <a:masterClrMapping/>
  </p:clrMapOvr>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docProps/app.xml><?xml version="1.0" encoding="utf-8"?>
<Properties xmlns="http://schemas.openxmlformats.org/officeDocument/2006/extended-properties" xmlns:vt="http://schemas.openxmlformats.org/officeDocument/2006/docPropsVTypes">
  <Template>School Days</Template>
  <TotalTime>348</TotalTime>
  <Words>1198</Words>
  <Application>Microsoft Office PowerPoint</Application>
  <PresentationFormat>Widescreen</PresentationFormat>
  <Paragraphs>108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JasmineUPC</vt:lpstr>
      <vt:lpstr>Raleway</vt:lpstr>
      <vt:lpstr>School Days</vt:lpstr>
      <vt:lpstr>Project-gridsense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KRITHIK ROSAN</dc:creator>
  <cp:lastModifiedBy>KRITHIK ROSAN</cp:lastModifiedBy>
  <cp:revision>9</cp:revision>
  <dcterms:created xsi:type="dcterms:W3CDTF">2026-10-07T16:22:05Z</dcterms:created>
  <dcterms:modified xsi:type="dcterms:W3CDTF">2026-10-09T17:41:08Z</dcterms:modified>
</cp:coreProperties>
</file>